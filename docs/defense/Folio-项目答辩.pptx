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大家好，我介绍的是 Folio，个人工作记忆助手。我们聚焦一个很具体的问题：与客户交接的信息都在微信里，聊的时候记得，忙起来却容易遗漏。Folio 可以读取用户选定的微信会话，把客户要求、修改意见和双方承诺整理成可核对的记录。今天重点讲它怎样帮助留住客户交代，让后续跟进有据可查。
依据：README.md；当前主页截图。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客户沟通常常不是一次说完：今天确认需求，明天调整时间，过几天又补充一个细节。需要交付时，我们还得回翻聊天，确认按哪一版做、答应了什么、还有谁没回复。Folio 聚焦的就是这些容易遗漏的交接信息。这里是场景分析，没有用未经验证的效率数字来证明效果。
依据：README.md：体验三个问题、当前能力边界；示例为合成表达。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产品主线就是微信读取、交接整理、原话确认和后续跟进。用户先选择客户会话和消息，系统整理出需求、承诺与待确认事项；用户核对后，再用它回看变更、查找证据和处理待办。希望减少依赖个人记忆，也让交接内容可以反复核对。
依据：README.md；engine.py；web/workspace.js。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工作台是后续查交接信息的地方。页面按事项组织记录，展开纸条可以核对原文和状态，顶部能直接从微信导入。截图仍是当前版本的社区活动合成演示，用来展示真实界面布局，并不是客户真实记录，也不是已实现独立客户管理系统。
依据：docs/defense/assets/workspace.png；web/index.html；web/styles/workspace-focus.css。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个亮点是可以直接读取选定的微信会话。用户搜索客户或群聊，选择要导入的消息，也可以授权会话后主动读取。系统保留发送者、原始时间和来源编号，重复导入会去重。新电脑需要登录微信并初始化；读取范围是本机可用记录，不是完整历史恢复，也不是持续自动同步。
依据：wechat.py；wechat_bridge.py；capture.py；extension/manifest.json；extension/background.js。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个亮点是留住变更。这里用客户交付时间作合成示意：最初约周五，之后确认改为周一，后来又有人提出提前。最新一句话可能只是提议，不能直接覆盖已确认安排。用户核对并建立版本关系后，可以查看当前安排，也可以回看过去的版本。此页说明使用场景；现场真实功能演示仍使用内置社区开放日案例。
依据：demo.py；engine.py：ask、review、历史回看；README.md：体验三个问题。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个亮点是让交接后的待办更清楚。我承诺发修改稿，与等待客户确认文案，是不同方向的事情。收到消息也不代表完成任务。系统支持核对归属、修正内容、采用或确认完成。它帮助使用者查看和跟进，目前没有主动催办或自动提醒功能。
依据：extraction.py；engine.py；tests/test_ownership.py；web/todos.js。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交接记录不只是一个摘要。它还保留原始消息、人物和时间，因此后续忘记细节或遇到版本分歧时，可以回到原话核对。页面是合成示意，不是系统实际抽取截图。自动整理先生成候选，人来判断是否采用，避免把一句建议直接当成客户确认。
依据：README.md；engine.py；extraction.py；示例为合成场景。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技术实现只讲一条链路：微信 CLI 读取选定内容，Python 本机服务处理，SQLite 保存原文、候选和版本关系，网页提供核对界面。默认上下文规则生成候选，也有可选模型接口；真实微信内容在本机处理，外部模型仅用于内置合成案例。重点是每条整理结果能回到来源，并由用户确认。
依据：server.py；engine.py；wechat.py；folio.py；DEVELOPMENT.md。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微信内容由本人主动选择，程序只读，不发送或回复。真实记录在本机处理，公开演示使用合成空间。外部模型接口会核对消息内容和来源字段，不能只是换个标签就上传真实记录。Key 只在服务内存中保存。不过，本地优先不等于数据库已经加密，拥有本机文件权限的人仍可读取这些文件，这是当前需要明确的边界。
依据：README.md：模型设置、隐私和当前能力边界；remote_model.py；server.py。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交付前执行了135项Python测试和38项JavaScript测试。还从最终ZIP解压，检查EXE、微信CLI帮助、20个页面资源以及隔离数据。测试数量只是工程回归覆盖，不是准确率。真实微信换机兼容、外部模型效果、本机模型实际部署和用户效率提升，仍需要各自的验证，不能由合成测试代替。
依据：2026-10-18 本轮前序执行记录；tests/；tools/verify_release.py。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直接的价值是客户交代不容易在多轮聊天后被忘记。需求沟通阶段留住细节，修改阶段看清前后变化，交接后区分自己的承诺和等待客户反馈。它面向通过微信对接客户的个人与小团队。目前这些是有功能支撑的价值目标，还没有量化用户研究，不能声称已经减少多少遗漏或节省多少时间。
依据：README.md 的产品能力；评估指标为后续方案，不是已取得结果。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一步仍围绕客户交接：先验证不同电脑的微信读取与初始化体验，再邀请有客户沟通需求的使用者试用，观察他们找回原话的耗时和漏记情况。更复杂的关联、加密和主动提醒需要另外设计和验证。当前先把读取、核对、回看、待办这一条链路做稳。
依据：README.md：当前能力边界；交付说明.md；后续规划。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场用现有社区开放日合成数据，依次展示原话证据、当前确认时间和历史回看，说明相同机制如何帮助处理客户交接；不要声称这是客户数据实测。若有现场演示条件，可以另展示微信选择入口，不在公开答辩读取真实客户会话。最后请评委记住：Folio 可以读取选定微信会话，留住客户要求、变更和承诺，让后续跟进有据可查。
依据：README.md：体验三个问题；合成演示场景；无网络只指基础规则与合成数据流程。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项目答辩  ·  人工智能创新应用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626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Folio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685800" y="26974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个人工作记忆助手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85800" y="3730752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84E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微信里的客户交代，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284E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后续跟进有据可查。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85800" y="5550408"/>
            <a:ext cx="1143000" cy="329184"/>
          </a:xfrm>
          <a:prstGeom prst="roundRect">
            <a:avLst>
              <a:gd name="adj" fmla="val 33333"/>
            </a:avLst>
          </a:prstGeom>
          <a:solidFill>
            <a:srgbClr val="EDF1FF"/>
          </a:solidFill>
          <a:ln w="12700">
            <a:solidFill>
              <a:srgbClr val="EDF1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5582412"/>
            <a:ext cx="923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84E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微信读取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75104" y="5550408"/>
            <a:ext cx="1371600" cy="329184"/>
          </a:xfrm>
          <a:prstGeom prst="roundRect">
            <a:avLst>
              <a:gd name="adj" fmla="val 33333"/>
            </a:avLst>
          </a:prstGeom>
          <a:solidFill>
            <a:srgbClr val="EDF1FF"/>
          </a:solidFill>
          <a:ln w="12700">
            <a:solidFill>
              <a:srgbClr val="EDF1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84832" y="5582412"/>
            <a:ext cx="1152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84E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交接留痕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93008" y="5550408"/>
            <a:ext cx="1371600" cy="329184"/>
          </a:xfrm>
          <a:prstGeom prst="roundRect">
            <a:avLst>
              <a:gd name="adj" fmla="val 33333"/>
            </a:avLst>
          </a:prstGeom>
          <a:solidFill>
            <a:srgbClr val="EDF1FF"/>
          </a:solidFill>
          <a:ln w="12700">
            <a:solidFill>
              <a:srgbClr val="EDF1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02736" y="5582412"/>
            <a:ext cx="1152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84E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本机优先</a:t>
            </a:r>
            <a:endParaRPr lang="en-US" sz="1100" dirty="0"/>
          </a:p>
        </p:txBody>
      </p:sp>
      <p:pic>
        <p:nvPicPr>
          <p:cNvPr id="12" name="Image 0" descr="C:\Users\Xchcy\Desktop\黑客松大赛\项目\work-memory-assistant\docs\defense\assets\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051560"/>
            <a:ext cx="4224528" cy="51663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85800" y="641908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· 项目原型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FOLIO  /  问题背景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18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客户交代都在微信里，忙起来容易遗漏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609344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面向通过微信对接客户的个人、自由职业者与小团队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Folio · 个人工作记忆助手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45952" y="64190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3566160" cy="2971800"/>
          </a:xfrm>
          <a:prstGeom prst="roundRect">
            <a:avLst>
              <a:gd name="adj" fmla="val 3692"/>
            </a:avLst>
          </a:prstGeom>
          <a:solidFill>
            <a:srgbClr val="F7F9FD"/>
          </a:solidFill>
          <a:ln w="12700">
            <a:solidFill>
              <a:srgbClr val="F7F9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560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4E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需求反复变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108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最终按哪版做？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77240" y="38862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“原定周五。”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“改到下周一。”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“能否提前？”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15968" y="2331720"/>
            <a:ext cx="3566160" cy="2971800"/>
          </a:xfrm>
          <a:prstGeom prst="roundRect">
            <a:avLst>
              <a:gd name="adj" fmla="val 3692"/>
            </a:avLst>
          </a:prstGeom>
          <a:solidFill>
            <a:srgbClr val="F7F9FD"/>
          </a:solidFill>
          <a:ln w="12700">
            <a:solidFill>
              <a:srgbClr val="F7F9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44568" y="2560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4E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交接分散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44568" y="3108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还有什么没跟进？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544568" y="38862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“我来整理。”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“等小李回复。”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“收到。”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83296" y="2331720"/>
            <a:ext cx="3566160" cy="2971800"/>
          </a:xfrm>
          <a:prstGeom prst="roundRect">
            <a:avLst>
              <a:gd name="adj" fmla="val 3692"/>
            </a:avLst>
          </a:prstGeom>
          <a:solidFill>
            <a:srgbClr val="F7F9FD"/>
          </a:solidFill>
          <a:ln w="12700">
            <a:solidFill>
              <a:srgbClr val="F7F9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11896" y="2560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4E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细节容易忘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11896" y="3108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客户原话是什么？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311896" y="38862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只记住最后一句结论，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却忘了当时的条件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和修改原因。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5669280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84E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把客户交代留住，后续跟进就有依据。</a:t>
            </a:r>
            <a:endParaRPr lang="en-US" sz="2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FOLIO  /  项目介绍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18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把客户会话，整理成可核对的交接记录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609344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微信读取 → 需求与承诺整理 → 原话核对 → 待办跟进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Folio · 个人工作记忆助手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45952" y="64190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578608"/>
            <a:ext cx="2487168" cy="1938528"/>
          </a:xfrm>
          <a:prstGeom prst="roundRect">
            <a:avLst>
              <a:gd name="adj" fmla="val 5660"/>
            </a:avLst>
          </a:prstGeom>
          <a:solidFill>
            <a:srgbClr val="EDF1FF"/>
          </a:solidFill>
          <a:ln w="12700">
            <a:solidFill>
              <a:srgbClr val="EDF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715768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收进来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212140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选择客户会话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读取所需消息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108960" y="3374136"/>
            <a:ext cx="201168" cy="274320"/>
          </a:xfrm>
          <a:prstGeom prst="chevron">
            <a:avLst/>
          </a:prstGeom>
          <a:solidFill>
            <a:srgbClr val="60708A"/>
          </a:solidFill>
          <a:ln w="12700">
            <a:solidFill>
              <a:srgbClr val="60708A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2578608"/>
            <a:ext cx="2487168" cy="1938528"/>
          </a:xfrm>
          <a:prstGeom prst="roundRect">
            <a:avLst>
              <a:gd name="adj" fmla="val 5660"/>
            </a:avLst>
          </a:prstGeom>
          <a:solidFill>
            <a:srgbClr val="EDF1FF"/>
          </a:solidFill>
          <a:ln w="12700">
            <a:solidFill>
              <a:srgbClr val="EDF1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2715768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理清楚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566160" y="3291840"/>
            <a:ext cx="212140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整理需求与承诺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保留人物和日期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0" y="3374136"/>
            <a:ext cx="201168" cy="274320"/>
          </a:xfrm>
          <a:prstGeom prst="chevron">
            <a:avLst/>
          </a:prstGeom>
          <a:solidFill>
            <a:srgbClr val="60708A"/>
          </a:solidFill>
          <a:ln w="12700">
            <a:solidFill>
              <a:srgbClr val="60708A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2578608"/>
            <a:ext cx="2487168" cy="1938528"/>
          </a:xfrm>
          <a:prstGeom prst="roundRect">
            <a:avLst>
              <a:gd name="adj" fmla="val 5660"/>
            </a:avLst>
          </a:prstGeom>
          <a:solidFill>
            <a:srgbClr val="EAF5EF"/>
          </a:solidFill>
          <a:ln w="12700">
            <a:solidFill>
              <a:srgbClr val="EAF5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2715768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确认好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400800" y="3291840"/>
            <a:ext cx="212140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核对原话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修正、采用、完成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778240" y="3374136"/>
            <a:ext cx="201168" cy="274320"/>
          </a:xfrm>
          <a:prstGeom prst="chevron">
            <a:avLst/>
          </a:prstGeom>
          <a:solidFill>
            <a:srgbClr val="60708A"/>
          </a:solidFill>
          <a:ln w="12700">
            <a:solidFill>
              <a:srgbClr val="60708A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52560" y="2578608"/>
            <a:ext cx="2487168" cy="1938528"/>
          </a:xfrm>
          <a:prstGeom prst="roundRect">
            <a:avLst>
              <a:gd name="adj" fmla="val 5660"/>
            </a:avLst>
          </a:prstGeom>
          <a:solidFill>
            <a:srgbClr val="EDF1FF"/>
          </a:solidFill>
          <a:ln w="12700">
            <a:solidFill>
              <a:srgbClr val="EDF1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0" y="2715768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接着做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9235440" y="3291840"/>
            <a:ext cx="212140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核对剩余待办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回看客户变更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5010912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16264B"/>
          </a:solidFill>
          <a:ln w="12700">
            <a:solidFill>
              <a:srgbClr val="1626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516636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每一条记忆，都能回到原话；自动结果保留“待确认”。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FOLIO  /  产品界面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18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客户说过什么，回到工作台就能查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609344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界面截图来自当前版本的合成演示，不包含真实聊天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Folio · 个人工作记忆助手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45952" y="64190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pic>
        <p:nvPicPr>
          <p:cNvPr id="7" name="Image 0" descr="C:\Users\Xchcy\Desktop\黑客松大赛\项目\work-memory-assistant\docs\defense\assets\worksp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03120"/>
            <a:ext cx="7479792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321040" y="2423160"/>
            <a:ext cx="3246120" cy="1024128"/>
          </a:xfrm>
          <a:prstGeom prst="roundRect">
            <a:avLst>
              <a:gd name="adj" fmla="val 10714"/>
            </a:avLst>
          </a:prstGeom>
          <a:solidFill>
            <a:srgbClr val="F7F9FD"/>
          </a:solidFill>
          <a:ln w="12700">
            <a:solidFill>
              <a:srgbClr val="F7F9F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03920" y="25603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按项目查看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503920" y="2944368"/>
            <a:ext cx="2880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按事项整理，减少客户项目混杂。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321040" y="3648456"/>
            <a:ext cx="3246120" cy="1024128"/>
          </a:xfrm>
          <a:prstGeom prst="roundRect">
            <a:avLst>
              <a:gd name="adj" fmla="val 10714"/>
            </a:avLst>
          </a:prstGeom>
          <a:solidFill>
            <a:srgbClr val="F7F9FD"/>
          </a:solidFill>
          <a:ln w="12700">
            <a:solidFill>
              <a:srgbClr val="F7F9F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03920" y="378561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交接内容可回查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503920" y="4169664"/>
            <a:ext cx="2880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展开纸条，核对客户原话与状态。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321040" y="4873752"/>
            <a:ext cx="3246120" cy="1024128"/>
          </a:xfrm>
          <a:prstGeom prst="roundRect">
            <a:avLst>
              <a:gd name="adj" fmla="val 10714"/>
            </a:avLst>
          </a:prstGeom>
          <a:solidFill>
            <a:srgbClr val="F7F9FD"/>
          </a:solidFill>
          <a:ln w="12700">
            <a:solidFill>
              <a:srgbClr val="F7F9F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03920" y="501091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从微信直接接入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503920" y="5394960"/>
            <a:ext cx="2880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从微信导入，留住交接信息。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FOLIO  /  核心功能 01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18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亮点一：直接读取选定的微信会话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609344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从客户沟通源头收集信息，减少来回翻找和手动摘抄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Folio · 个人工作记忆助手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45952" y="64190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3566160" cy="3246120"/>
          </a:xfrm>
          <a:prstGeom prst="roundRect">
            <a:avLst>
              <a:gd name="adj" fmla="val 3380"/>
            </a:avLst>
          </a:prstGeom>
          <a:solidFill>
            <a:srgbClr val="F7F9FD"/>
          </a:solidFill>
          <a:ln w="12700">
            <a:solidFill>
              <a:srgbClr val="F7F9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560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4E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找到客户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108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选择会话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77240" y="38862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搜索联系人、备注或群聊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选择本次需要处理的对象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同名账号分别核对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15968" y="2331720"/>
            <a:ext cx="3566160" cy="3246120"/>
          </a:xfrm>
          <a:prstGeom prst="roundRect">
            <a:avLst>
              <a:gd name="adj" fmla="val 3380"/>
            </a:avLst>
          </a:prstGeom>
          <a:solidFill>
            <a:srgbClr val="F7F9FD"/>
          </a:solidFill>
          <a:ln w="12700">
            <a:solidFill>
              <a:srgbClr val="F7F9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44568" y="2560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4E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控制范围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44568" y="3108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主动读取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544568" y="38862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逐条勾选消息导入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或读取勾选的已授权会话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按日期和关键词筛选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83296" y="2331720"/>
            <a:ext cx="3566160" cy="3246120"/>
          </a:xfrm>
          <a:prstGeom prst="roundRect">
            <a:avLst>
              <a:gd name="adj" fmla="val 3380"/>
            </a:avLst>
          </a:prstGeom>
          <a:solidFill>
            <a:srgbClr val="F7F9FD"/>
          </a:solidFill>
          <a:ln w="12700">
            <a:solidFill>
              <a:srgbClr val="F7F9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11896" y="2560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4E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留住来源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11896" y="3108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原话一起保存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311896" y="38862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保留发送者、时间与原文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重复消息按稳定编号去重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整理结果仍可返回原话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4360" y="5897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微信需本人电脑登录并初始化；不会自动发送消息或持续同步。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FOLIO  /  核心功能 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18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亮点二：需求改了，也能看清前后变化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609344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合成场景示意：客户调整方案交付时间（非真实聊天）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Folio · 个人工作记忆助手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45952" y="64190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3383280" cy="2103120"/>
          </a:xfrm>
          <a:prstGeom prst="roundRect">
            <a:avLst>
              <a:gd name="adj" fmla="val 5217"/>
            </a:avLst>
          </a:prstGeom>
          <a:solidFill>
            <a:srgbClr val="F7F9FD"/>
          </a:solidFill>
          <a:ln w="12700">
            <a:solidFill>
              <a:srgbClr val="F7F9F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2651760"/>
            <a:ext cx="1371600" cy="329184"/>
          </a:xfrm>
          <a:prstGeom prst="roundRect">
            <a:avLst>
              <a:gd name="adj" fmla="val 33333"/>
            </a:avLst>
          </a:prstGeom>
          <a:solidFill>
            <a:srgbClr val="EDF1FF"/>
          </a:solidFill>
          <a:ln w="12700">
            <a:solidFill>
              <a:srgbClr val="EDF1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2683764"/>
            <a:ext cx="1152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历史安排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32186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月 09 日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68680" y="3749040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初稿周五 14:00 交付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123944" y="3337560"/>
            <a:ext cx="210312" cy="274320"/>
          </a:xfrm>
          <a:prstGeom prst="chevron">
            <a:avLst/>
          </a:prstGeom>
          <a:solidFill>
            <a:srgbClr val="60708A"/>
          </a:solidFill>
          <a:ln w="12700">
            <a:solidFill>
              <a:srgbClr val="60708A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2423160"/>
            <a:ext cx="3383280" cy="2103120"/>
          </a:xfrm>
          <a:prstGeom prst="roundRect">
            <a:avLst>
              <a:gd name="adj" fmla="val 5217"/>
            </a:avLst>
          </a:prstGeom>
          <a:solidFill>
            <a:srgbClr val="F7F9FD"/>
          </a:solidFill>
          <a:ln w="12700">
            <a:solidFill>
              <a:srgbClr val="F7F9F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2651760"/>
            <a:ext cx="1371600" cy="329184"/>
          </a:xfrm>
          <a:prstGeom prst="roundRect">
            <a:avLst>
              <a:gd name="adj" fmla="val 33333"/>
            </a:avLst>
          </a:prstGeom>
          <a:solidFill>
            <a:srgbClr val="EDF1FF"/>
          </a:solidFill>
          <a:ln w="12700">
            <a:solidFill>
              <a:srgbClr val="EDF1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3168" y="2683764"/>
            <a:ext cx="1152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84E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当前记录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32186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84E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月 11 日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663440" y="3749040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确认改到周一 15:00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918704" y="3337560"/>
            <a:ext cx="210312" cy="274320"/>
          </a:xfrm>
          <a:prstGeom prst="chevron">
            <a:avLst/>
          </a:prstGeom>
          <a:solidFill>
            <a:srgbClr val="60708A"/>
          </a:solidFill>
          <a:ln w="12700">
            <a:solidFill>
              <a:srgbClr val="60708A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2423160"/>
            <a:ext cx="3383280" cy="2103120"/>
          </a:xfrm>
          <a:prstGeom prst="roundRect">
            <a:avLst>
              <a:gd name="adj" fmla="val 5217"/>
            </a:avLst>
          </a:prstGeom>
          <a:solidFill>
            <a:srgbClr val="F7F9FD"/>
          </a:solidFill>
          <a:ln w="12700">
            <a:solidFill>
              <a:srgbClr val="F7F9F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58200" y="2651760"/>
            <a:ext cx="1371600" cy="329184"/>
          </a:xfrm>
          <a:prstGeom prst="roundRect">
            <a:avLst>
              <a:gd name="adj" fmla="val 33333"/>
            </a:avLst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67928" y="2683764"/>
            <a:ext cx="1152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7B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待确认提议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58200" y="32186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7B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月 13 日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458200" y="3749040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能否再提前一天？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40080" y="4919472"/>
            <a:ext cx="5303520" cy="914400"/>
          </a:xfrm>
          <a:prstGeom prst="roundRect">
            <a:avLst>
              <a:gd name="adj" fmla="val 12000"/>
            </a:avLst>
          </a:prstGeom>
          <a:solidFill>
            <a:srgbClr val="EDF1FF"/>
          </a:solidFill>
          <a:ln w="12700">
            <a:solidFill>
              <a:srgbClr val="EDF1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50566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问现在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22960" y="54406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确认版本：周一 15:00 交付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99632" y="4919472"/>
            <a:ext cx="5303520" cy="914400"/>
          </a:xfrm>
          <a:prstGeom prst="roundRect">
            <a:avLst>
              <a:gd name="adj" fmla="val 12000"/>
            </a:avLst>
          </a:prstGeom>
          <a:solidFill>
            <a:srgbClr val="EDF1FF"/>
          </a:solidFill>
          <a:ln w="12700">
            <a:solidFill>
              <a:srgbClr val="EDF1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82512" y="50566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回看 10 月 10 日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382512" y="54406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原始版本：周五 14:00 交付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FOLIO  /  核心功能 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18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亮点三：交接后，分清谁还需要做什么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609344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我的承诺、等客户回复、未确认提议，分开核对与跟进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Folio · 个人工作记忆助手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45952" y="64190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11064240" cy="594360"/>
          </a:xfrm>
          <a:prstGeom prst="roundRect">
            <a:avLst>
              <a:gd name="adj" fmla="val 18462"/>
            </a:avLst>
          </a:prstGeom>
          <a:solidFill>
            <a:srgbClr val="F7F9FD"/>
          </a:solidFill>
          <a:ln w="12700">
            <a:solidFill>
              <a:srgbClr val="F7F9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2377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“我明天发修改稿”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623560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4E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我的承诺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66760" y="23774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待确认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999232"/>
            <a:ext cx="1106424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3136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“等客户确认文案”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623560" y="31363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4E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等别人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66760" y="31363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待客户反馈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758184"/>
            <a:ext cx="11064240" cy="594360"/>
          </a:xfrm>
          <a:prstGeom prst="roundRect">
            <a:avLst>
              <a:gd name="adj" fmla="val 18462"/>
            </a:avLst>
          </a:prstGeom>
          <a:solidFill>
            <a:srgbClr val="F7F9FD"/>
          </a:solidFill>
          <a:ln w="12700">
            <a:solidFill>
              <a:srgbClr val="F7F9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38953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“可以提前到周三吗”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623560" y="38953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4E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提议 / 请求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66760" y="38953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不自动改期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517136"/>
            <a:ext cx="1106424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" y="46542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“收到”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623560" y="46542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4E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确认收到消息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66760" y="465429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不自动标为已完成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60120" y="5669280"/>
            <a:ext cx="1188720" cy="329184"/>
          </a:xfrm>
          <a:prstGeom prst="roundRect">
            <a:avLst>
              <a:gd name="adj" fmla="val 33333"/>
            </a:avLst>
          </a:prstGeom>
          <a:solidFill>
            <a:srgbClr val="EDF1FF"/>
          </a:solidFill>
          <a:ln w="12700">
            <a:solidFill>
              <a:srgbClr val="EDF1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69848" y="5701284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84E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423160" y="5696712"/>
            <a:ext cx="384048" cy="274320"/>
          </a:xfrm>
          <a:prstGeom prst="chevron">
            <a:avLst/>
          </a:prstGeom>
          <a:solidFill>
            <a:srgbClr val="60708A"/>
          </a:solidFill>
          <a:ln w="12700">
            <a:solidFill>
              <a:srgbClr val="60708A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63240" y="5669280"/>
            <a:ext cx="1188720" cy="329184"/>
          </a:xfrm>
          <a:prstGeom prst="roundRect">
            <a:avLst>
              <a:gd name="adj" fmla="val 33333"/>
            </a:avLst>
          </a:prstGeom>
          <a:solidFill>
            <a:srgbClr val="EDF1FF"/>
          </a:solidFill>
          <a:ln w="12700">
            <a:solidFill>
              <a:srgbClr val="EDF1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72968" y="5701284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84E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纠正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26280" y="5696712"/>
            <a:ext cx="384048" cy="274320"/>
          </a:xfrm>
          <a:prstGeom prst="chevron">
            <a:avLst/>
          </a:prstGeom>
          <a:solidFill>
            <a:srgbClr val="60708A"/>
          </a:solidFill>
          <a:ln w="12700">
            <a:solidFill>
              <a:srgbClr val="60708A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66360" y="5669280"/>
            <a:ext cx="1508760" cy="329184"/>
          </a:xfrm>
          <a:prstGeom prst="roundRect">
            <a:avLst>
              <a:gd name="adj" fmla="val 33333"/>
            </a:avLst>
          </a:prstGeom>
          <a:solidFill>
            <a:srgbClr val="EAF5EF"/>
          </a:solidFill>
          <a:ln w="12700">
            <a:solidFill>
              <a:srgbClr val="EAF5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76088" y="5701284"/>
            <a:ext cx="1289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74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确认完成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60920" y="566928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每一步保留修改记录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FOLIO  /  核心亮点 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18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交接时有疑问，能回到客户原话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609344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合成示意：记录保留发送者、消息时间与引用来源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Folio · 个人工作记忆助手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45952" y="64190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2423160"/>
            <a:ext cx="5303520" cy="1508760"/>
          </a:xfrm>
          <a:prstGeom prst="roundRect">
            <a:avLst>
              <a:gd name="adj" fmla="val 7273"/>
            </a:avLst>
          </a:prstGeom>
          <a:solidFill>
            <a:srgbClr val="F7F9FD"/>
          </a:solidFill>
          <a:ln w="12700">
            <a:solidFill>
              <a:srgbClr val="F7F9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5603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客户原话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77240" y="3136392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“这一版先保留蓝色，周一发我确认。”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80760" y="3017520"/>
            <a:ext cx="274320" cy="274320"/>
          </a:xfrm>
          <a:prstGeom prst="chevron">
            <a:avLst/>
          </a:prstGeom>
          <a:solidFill>
            <a:srgbClr val="60708A"/>
          </a:solidFill>
          <a:ln w="12700">
            <a:solidFill>
              <a:srgbClr val="60708A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2423160"/>
            <a:ext cx="5029200" cy="1508760"/>
          </a:xfrm>
          <a:prstGeom prst="roundRect">
            <a:avLst>
              <a:gd name="adj" fmla="val 7273"/>
            </a:avLst>
          </a:prstGeom>
          <a:solidFill>
            <a:srgbClr val="EDF1FF"/>
          </a:solidFill>
          <a:ln w="12700">
            <a:solidFill>
              <a:srgbClr val="EDF1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0840" y="25603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待核对的交接记录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720840" y="3136392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要求：保留蓝色 / 承诺：周一发稿确认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" y="4526280"/>
            <a:ext cx="5303520" cy="1188720"/>
          </a:xfrm>
          <a:prstGeom prst="roundRect">
            <a:avLst>
              <a:gd name="adj" fmla="val 9231"/>
            </a:avLst>
          </a:prstGeom>
          <a:solidFill>
            <a:srgbClr val="EDF1FF"/>
          </a:solidFill>
          <a:ln w="12700">
            <a:solidFill>
              <a:srgbClr val="EDF1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663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忘了细节时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77240" y="504748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展开记录查看引用，核对客户当时说法。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4526280"/>
            <a:ext cx="5349240" cy="1188720"/>
          </a:xfrm>
          <a:prstGeom prst="roundRect">
            <a:avLst>
              <a:gd name="adj" fmla="val 9231"/>
            </a:avLst>
          </a:prstGeom>
          <a:solidFill>
            <a:srgbClr val="F7F9FD"/>
          </a:solidFill>
          <a:ln w="12700">
            <a:solidFill>
              <a:srgbClr val="F7F9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46634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出现分歧时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00800" y="5047488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回看时间与变更记录，再决定如何跟进。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FOLIO  /  技术支撑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18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技术支撑：从微信原文到可追溯记录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609344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 Web 前端 + Python 本机服务 + SQLite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Folio · 个人工作记忆助手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45952" y="64190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2377440"/>
            <a:ext cx="3291840" cy="1645920"/>
          </a:xfrm>
          <a:prstGeom prst="roundRect">
            <a:avLst>
              <a:gd name="adj" fmla="val 6667"/>
            </a:avLst>
          </a:prstGeom>
          <a:solidFill>
            <a:srgbClr val="EDF1FF"/>
          </a:solidFill>
          <a:ln w="12700">
            <a:solidFill>
              <a:srgbClr val="EDF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5146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浏览器界面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77240" y="3090672"/>
            <a:ext cx="29260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 HTML / CSS / ES Modules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工作台、证据面板、收集箱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34840" y="2377440"/>
            <a:ext cx="3291840" cy="1645920"/>
          </a:xfrm>
          <a:prstGeom prst="roundRect">
            <a:avLst>
              <a:gd name="adj" fmla="val 6667"/>
            </a:avLst>
          </a:prstGeom>
          <a:solidFill>
            <a:srgbClr val="EDF1FF"/>
          </a:solidFill>
          <a:ln w="12700">
            <a:solidFill>
              <a:srgbClr val="EDF1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25146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服务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617720" y="3090672"/>
            <a:ext cx="29260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 API · 127.0.0.1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抽取、检索、人工修改与后台任务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75320" y="2377440"/>
            <a:ext cx="3291840" cy="1645920"/>
          </a:xfrm>
          <a:prstGeom prst="roundRect">
            <a:avLst>
              <a:gd name="adj" fmla="val 6667"/>
            </a:avLst>
          </a:prstGeom>
          <a:solidFill>
            <a:srgbClr val="EDF1FF"/>
          </a:solidFill>
          <a:ln w="12700">
            <a:solidFill>
              <a:srgbClr val="EDF1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58200" y="25146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458200" y="3090672"/>
            <a:ext cx="29260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原始消息、候选记忆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版本关系、修改记录与摘要缓存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005072" y="3063240"/>
            <a:ext cx="274320" cy="274320"/>
          </a:xfrm>
          <a:prstGeom prst="chevron">
            <a:avLst/>
          </a:prstGeom>
          <a:solidFill>
            <a:srgbClr val="60708A"/>
          </a:solidFill>
          <a:ln w="12700">
            <a:solidFill>
              <a:srgbClr val="60708A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45552" y="3063240"/>
            <a:ext cx="274320" cy="274320"/>
          </a:xfrm>
          <a:prstGeom prst="chevron">
            <a:avLst/>
          </a:prstGeom>
          <a:solidFill>
            <a:srgbClr val="60708A"/>
          </a:solidFill>
          <a:ln w="12700">
            <a:solidFill>
              <a:srgbClr val="60708A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4572000"/>
            <a:ext cx="3291840" cy="1234440"/>
          </a:xfrm>
          <a:prstGeom prst="roundRect">
            <a:avLst>
              <a:gd name="adj" fmla="val 8889"/>
            </a:avLst>
          </a:prstGeom>
          <a:solidFill>
            <a:srgbClr val="EDF1FF"/>
          </a:solidFill>
          <a:ln w="12700">
            <a:solidFill>
              <a:srgbClr val="EDF1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709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微信只读适配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77240" y="509320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独立子进程调用内置 CLI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读取选定内容并保留定位信息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34840" y="4572000"/>
            <a:ext cx="3291840" cy="1234440"/>
          </a:xfrm>
          <a:prstGeom prst="roundRect">
            <a:avLst>
              <a:gd name="adj" fmla="val 8889"/>
            </a:avLst>
          </a:prstGeom>
          <a:solidFill>
            <a:srgbClr val="EDF1FF"/>
          </a:solidFill>
          <a:ln w="12700">
            <a:solidFill>
              <a:srgbClr val="EDF1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4709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可选模型接口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617720" y="509320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Ollama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外部接口仅处理内置合成案例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75320" y="4572000"/>
            <a:ext cx="3291840" cy="1234440"/>
          </a:xfrm>
          <a:prstGeom prst="roundRect">
            <a:avLst>
              <a:gd name="adj" fmla="val 8889"/>
            </a:avLst>
          </a:prstGeom>
          <a:solidFill>
            <a:srgbClr val="EDF1FF"/>
          </a:solidFill>
          <a:ln w="12700">
            <a:solidFill>
              <a:srgbClr val="EDF1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58200" y="4709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交付形式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458200" y="509320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 EXE 便携版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公开源码 + 浏览器扩展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FOLIO  /  隐私设计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18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客户沟通留在本机，读取范围由用户选择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609344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只读接入、主动选择、私有空间与演示空间隔离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Folio · 个人工作记忆助手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45952" y="64190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2331720"/>
            <a:ext cx="6903720" cy="3474720"/>
          </a:xfrm>
          <a:prstGeom prst="roundRect">
            <a:avLst>
              <a:gd name="adj" fmla="val 3158"/>
            </a:avLst>
          </a:prstGeom>
          <a:solidFill>
            <a:srgbClr val="F7F9FD"/>
          </a:solidFill>
          <a:ln w="12700">
            <a:solidFill>
              <a:srgbClr val="F7F9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606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使用者的电脑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914400" y="3246120"/>
            <a:ext cx="6263640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319272"/>
            <a:ext cx="5897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本人微信与随手记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914400" y="3904488"/>
            <a:ext cx="6263640" cy="475488"/>
          </a:xfrm>
          <a:prstGeom prst="roundRect">
            <a:avLst>
              <a:gd name="adj" fmla="val 23077"/>
            </a:avLst>
          </a:prstGeom>
          <a:solidFill>
            <a:srgbClr val="EDF1FF"/>
          </a:solidFill>
          <a:ln w="12700">
            <a:solidFill>
              <a:srgbClr val="EDF1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977640"/>
            <a:ext cx="5897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本机处理 / 可选本机模型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914400" y="4562856"/>
            <a:ext cx="6263640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4636008"/>
            <a:ext cx="5897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 与本地来源文件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001000" y="2331720"/>
            <a:ext cx="3566160" cy="3474720"/>
          </a:xfrm>
          <a:prstGeom prst="roundRect">
            <a:avLst>
              <a:gd name="adj" fmla="val 3158"/>
            </a:avLst>
          </a:prstGeom>
          <a:solidFill>
            <a:srgbClr val="EDF1FF"/>
          </a:solidFill>
          <a:ln w="12700">
            <a:solidFill>
              <a:srgbClr val="EDF1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2606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84E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可选外部模型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275320" y="3383280"/>
            <a:ext cx="2971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仅内置合成案例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逐字段校验来源白名单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只保存在服务内存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85800" y="603504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边界：本地数据库未加密；本机文件访问权限仍需保护。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FOLIO  /  完成度与验证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18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已具备从微信读取到记录核对的核心链路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609344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本机验证记录：2026-10-18；测试数量不等同于真实场景准确率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Folio · 个人工作记忆助手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45952" y="64190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3383280" cy="1600200"/>
          </a:xfrm>
          <a:prstGeom prst="roundRect">
            <a:avLst>
              <a:gd name="adj" fmla="val 6857"/>
            </a:avLst>
          </a:prstGeom>
          <a:solidFill>
            <a:srgbClr val="EDF1FF"/>
          </a:solidFill>
          <a:ln w="12700">
            <a:solidFill>
              <a:srgbClr val="EDF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49631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84E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135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868680" y="3337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测试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16552" y="2286000"/>
            <a:ext cx="3383280" cy="1600200"/>
          </a:xfrm>
          <a:prstGeom prst="roundRect">
            <a:avLst>
              <a:gd name="adj" fmla="val 6857"/>
            </a:avLst>
          </a:prstGeom>
          <a:solidFill>
            <a:srgbClr val="EDF1FF"/>
          </a:solidFill>
          <a:ln w="12700">
            <a:solidFill>
              <a:srgbClr val="EDF1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249631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84E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4645152" y="3337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 JS 测试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93024" y="2286000"/>
            <a:ext cx="3383280" cy="1600200"/>
          </a:xfrm>
          <a:prstGeom prst="roundRect">
            <a:avLst>
              <a:gd name="adj" fmla="val 6857"/>
            </a:avLst>
          </a:prstGeom>
          <a:solidFill>
            <a:srgbClr val="EDF1FF"/>
          </a:solidFill>
          <a:ln w="12700">
            <a:solidFill>
              <a:srgbClr val="EDF1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21624" y="249631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84E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8421624" y="3337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交付页面资源检查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4297680"/>
            <a:ext cx="5321808" cy="1508760"/>
          </a:xfrm>
          <a:prstGeom prst="roundRect">
            <a:avLst>
              <a:gd name="adj" fmla="val 7273"/>
            </a:avLst>
          </a:prstGeom>
          <a:solidFill>
            <a:srgbClr val="EAF5EF"/>
          </a:solidFill>
          <a:ln w="12700">
            <a:solidFill>
              <a:srgbClr val="EAF5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434840"/>
            <a:ext cx="4956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已验证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22960" y="5010912"/>
            <a:ext cx="4956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候选状态、日期与版本回看、去重、证据关联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解压后的 EXE 启动、CLI 帮助、页面和隔离数据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17920" y="4297680"/>
            <a:ext cx="5321808" cy="1508760"/>
          </a:xfrm>
          <a:prstGeom prst="roundRect">
            <a:avLst>
              <a:gd name="adj" fmla="val 7273"/>
            </a:avLst>
          </a:prstGeom>
          <a:solidFill>
            <a:srgbClr val="F7F9FD"/>
          </a:solidFill>
          <a:ln w="12700">
            <a:solidFill>
              <a:srgbClr val="F7F9F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4434840"/>
            <a:ext cx="4956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尚不能据此证明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400800" y="5010912"/>
            <a:ext cx="4956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换机后的真实微信初始化与读取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外部模型效果、本机模型部署、用户效率提升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FOLIO  /  应用价值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18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应用价值：客户交代不易忘，交接更有依据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609344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价值假设来自具体工作场景，尚未开展量化用户评估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Folio · 个人工作记忆助手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45952" y="64190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2377440"/>
            <a:ext cx="10972800" cy="804672"/>
          </a:xfrm>
          <a:prstGeom prst="roundRect">
            <a:avLst>
              <a:gd name="adj" fmla="val 13636"/>
            </a:avLst>
          </a:prstGeom>
          <a:solidFill>
            <a:srgbClr val="F7F9FD"/>
          </a:solidFill>
          <a:ln w="12700">
            <a:solidFill>
              <a:srgbClr val="F7F9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6060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4E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需求沟通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291840" y="26060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客户要求散在多轮聊天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95160" y="2606040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留住原话，减少遗漏细节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94360" y="3346704"/>
            <a:ext cx="1097280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57530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4E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方案修改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291840" y="357530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新要求与旧版本容易混淆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95160" y="357530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回看变更，核对当前确认版本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94360" y="4315968"/>
            <a:ext cx="10972800" cy="804672"/>
          </a:xfrm>
          <a:prstGeom prst="roundRect">
            <a:avLst>
              <a:gd name="adj" fmla="val 13636"/>
            </a:avLst>
          </a:prstGeom>
          <a:solidFill>
            <a:srgbClr val="F7F9FD"/>
          </a:solidFill>
          <a:ln w="12700">
            <a:solidFill>
              <a:srgbClr val="F7F9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5445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4E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后续跟进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291840" y="45445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承诺与客户反馈混在一起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95160" y="4544568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区分待办归属，继续处理未完事项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31520" y="5623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接下来怎么衡量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749040" y="5623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4E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找回依据耗时  /  候选修正率  /  任务漏记率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FOLIO  /  发展计划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18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围绕客户交接，继续打磨使用体验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609344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按当前完成度安排后续验证和迭代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Folio · 个人工作记忆助手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45952" y="64190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237744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F7F9FD"/>
          </a:solidFill>
          <a:ln w="12700">
            <a:solidFill>
              <a:srgbClr val="F7F9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6060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74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1546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核心可用原型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22960" y="393192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本机记录与证据追溯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候选核对、版本回看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EXE、源码与扩展交付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43400" y="237744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F7F9FD"/>
          </a:solidFill>
          <a:ln w="12700">
            <a:solidFill>
              <a:srgbClr val="F7F9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6060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4E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31546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验证与打磨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572000" y="393192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换机兼容与初始化引导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小规模用户试用与修正分析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更稳定的本机模型体验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92440" y="237744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F7F9FD"/>
          </a:solidFill>
          <a:ln w="12700">
            <a:solidFill>
              <a:srgbClr val="F7F9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26060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7B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后续探索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21040" y="31546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按需求扩展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321040" y="393192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语义检索与跨会话关联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数据加密、备份与迁移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正式签名与分发流程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59436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原则：没有证据不替用户下结论；重要状态由用户确认。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FOLIO  /  演示与总结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18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让评委记住：微信能读取，交接有记录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609344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现场仅演示合成数据；没有网络也可展示基础流程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Folio · 个人工作记忆助手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45952" y="64190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475488" cy="329184"/>
          </a:xfrm>
          <a:prstGeom prst="roundRect">
            <a:avLst>
              <a:gd name="adj" fmla="val 33333"/>
            </a:avLst>
          </a:prstGeom>
          <a:solidFill>
            <a:srgbClr val="EDF1FF"/>
          </a:solidFill>
          <a:ln w="12700">
            <a:solidFill>
              <a:srgbClr val="EDF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31800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84E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17320" y="2267712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为什么选这个方案？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498080" y="232257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查看结论与原话证据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3246120"/>
            <a:ext cx="475488" cy="329184"/>
          </a:xfrm>
          <a:prstGeom prst="roundRect">
            <a:avLst>
              <a:gd name="adj" fmla="val 33333"/>
            </a:avLst>
          </a:prstGeom>
          <a:solidFill>
            <a:srgbClr val="EDF1FF"/>
          </a:solidFill>
          <a:ln w="12700">
            <a:solidFill>
              <a:srgbClr val="EDF1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27812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84E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17320" y="3227832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目前确认的时间？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498080" y="328269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对比当前安排与未确认提议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40080" y="4206240"/>
            <a:ext cx="475488" cy="329184"/>
          </a:xfrm>
          <a:prstGeom prst="roundRect">
            <a:avLst>
              <a:gd name="adj" fmla="val 33333"/>
            </a:avLst>
          </a:prstGeom>
          <a:solidFill>
            <a:srgbClr val="EDF1FF"/>
          </a:solidFill>
          <a:ln w="12700">
            <a:solidFill>
              <a:srgbClr val="EDF1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423824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84E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17320" y="4187952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6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当时是什么安排？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498080" y="424281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070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回看历史日期，再核对待办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94360" y="5477256"/>
            <a:ext cx="11018520" cy="713232"/>
          </a:xfrm>
          <a:prstGeom prst="roundRect">
            <a:avLst>
              <a:gd name="adj" fmla="val 15385"/>
            </a:avLst>
          </a:prstGeom>
          <a:solidFill>
            <a:srgbClr val="16264B"/>
          </a:solidFill>
          <a:ln w="12700">
            <a:solidFill>
              <a:srgbClr val="1626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56418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Folio：留住客户交代，让后续跟进有据可查。</a:t>
            </a:r>
            <a:endParaRPr lang="en-US" sz="2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Folio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Folio · 个人工作记忆助手</dc:title>
  <dc:subject>项目介绍、核心功能、技术实现与应用价值</dc:subject>
  <dc:creator>Folio</dc:creator>
  <cp:lastModifiedBy>Folio</cp:lastModifiedBy>
  <cp:revision>1</cp:revision>
  <dcterms:created xsi:type="dcterms:W3CDTF">2026-10-19T12:32:02Z</dcterms:created>
  <dcterms:modified xsi:type="dcterms:W3CDTF">2026-10-19T12:32:02Z</dcterms:modified>
</cp:coreProperties>
</file>